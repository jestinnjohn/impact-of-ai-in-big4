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5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tin john" userId="e2d646dfc34f03ec" providerId="LiveId" clId="{92FF7616-779F-42C8-A165-C5FFB0491F42}"/>
    <pc:docChg chg="modSld">
      <pc:chgData name="jestin john" userId="e2d646dfc34f03ec" providerId="LiveId" clId="{92FF7616-779F-42C8-A165-C5FFB0491F42}" dt="2026-01-04T14:48:39.890" v="1" actId="1036"/>
      <pc:docMkLst>
        <pc:docMk/>
      </pc:docMkLst>
      <pc:sldChg chg="modSp mod">
        <pc:chgData name="jestin john" userId="e2d646dfc34f03ec" providerId="LiveId" clId="{92FF7616-779F-42C8-A165-C5FFB0491F42}" dt="2026-01-04T14:48:39.890" v="1" actId="1036"/>
        <pc:sldMkLst>
          <pc:docMk/>
          <pc:sldMk cId="149090878" sldId="263"/>
        </pc:sldMkLst>
        <pc:picChg chg="mod">
          <ac:chgData name="jestin john" userId="e2d646dfc34f03ec" providerId="LiveId" clId="{92FF7616-779F-42C8-A165-C5FFB0491F42}" dt="2026-01-04T14:48:39.890" v="1" actId="1036"/>
          <ac:picMkLst>
            <pc:docMk/>
            <pc:sldMk cId="149090878" sldId="263"/>
            <ac:picMk id="6" creationId="{BB069913-06BE-F377-76E3-5F9BEF285F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0142C-E753-4B16-BD2D-F076ADC5457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11EF6-6108-4B87-AE5B-D7C68D3F3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074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11EF6-6108-4B87-AE5B-D7C68D3F3AA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540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92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275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40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61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92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11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22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31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9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375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559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1801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923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1869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4362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63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51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6A274-392F-464A-86E8-11118A9CDC0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96B747E-B298-435E-A1F7-94D18AB7F2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39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8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646DC-5107-BA3F-69F2-1F7004197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09" y="1"/>
            <a:ext cx="6607277" cy="3428999"/>
          </a:xfrm>
          <a:effectLst>
            <a:outerShdw blurRad="50800" dist="50800" dir="5400000" algn="ctr" rotWithShape="0">
              <a:srgbClr val="000000">
                <a:alpha val="88000"/>
              </a:srgbClr>
            </a:outerShdw>
          </a:effectLst>
        </p:spPr>
        <p:txBody>
          <a:bodyPr>
            <a:normAutofit fontScale="90000"/>
          </a:bodyPr>
          <a:lstStyle/>
          <a:p>
            <a:br>
              <a:rPr lang="en-IN" sz="7200" dirty="0"/>
            </a:br>
            <a:br>
              <a:rPr lang="en-IN" sz="7200" dirty="0"/>
            </a:br>
            <a:br>
              <a:rPr lang="en-IN" sz="7200" dirty="0"/>
            </a:br>
            <a:r>
              <a:rPr lang="en-IN" sz="8000" b="1" dirty="0">
                <a:solidFill>
                  <a:schemeClr val="tx1">
                    <a:lumMod val="85000"/>
                  </a:schemeClr>
                </a:solidFill>
                <a:latin typeface="Arial Rounded MT Bold" panose="020F0704030504030204" pitchFamily="34" charset="0"/>
              </a:rPr>
              <a:t>Ai in big 4’s</a:t>
            </a:r>
            <a:br>
              <a:rPr lang="en-IN" sz="7200" b="1" dirty="0">
                <a:solidFill>
                  <a:schemeClr val="tx1">
                    <a:lumMod val="85000"/>
                  </a:schemeClr>
                </a:solidFill>
              </a:rPr>
            </a:br>
            <a:br>
              <a:rPr lang="en-IN" sz="7200" b="1" dirty="0">
                <a:solidFill>
                  <a:schemeClr val="tx1">
                    <a:lumMod val="85000"/>
                  </a:schemeClr>
                </a:solidFill>
              </a:rPr>
            </a:br>
            <a:endParaRPr lang="en-IN" sz="7200" b="1" dirty="0">
              <a:solidFill>
                <a:schemeClr val="tx1">
                  <a:lumMod val="8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9FB2A-B8B2-01D4-E872-C9507FF5D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0896" y="5559868"/>
            <a:ext cx="6400800" cy="194733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IN" b="1" dirty="0"/>
              <a:t>                                            </a:t>
            </a:r>
            <a:r>
              <a:rPr lang="en-IN" b="1" dirty="0">
                <a:solidFill>
                  <a:schemeClr val="tx1">
                    <a:lumMod val="85000"/>
                  </a:schemeClr>
                </a:solidFill>
                <a:latin typeface="Arial Rounded MT Bold" panose="020F0704030504030204" pitchFamily="34" charset="0"/>
              </a:rPr>
              <a:t>Submitted By:</a:t>
            </a:r>
          </a:p>
          <a:p>
            <a:r>
              <a:rPr lang="en-IN" b="1" dirty="0">
                <a:solidFill>
                  <a:schemeClr val="tx1">
                    <a:lumMod val="85000"/>
                  </a:schemeClr>
                </a:solidFill>
                <a:latin typeface="Arial Rounded MT Bold" panose="020F0704030504030204" pitchFamily="34" charset="0"/>
              </a:rPr>
              <a:t>						     Jestin John</a:t>
            </a:r>
          </a:p>
          <a:p>
            <a:r>
              <a:rPr lang="en-IN" b="1" dirty="0">
                <a:solidFill>
                  <a:schemeClr val="tx1">
                    <a:lumMod val="85000"/>
                  </a:schemeClr>
                </a:solidFill>
                <a:latin typeface="Arial Rounded MT Bold" panose="020F0704030504030204" pitchFamily="34" charset="0"/>
              </a:rPr>
              <a:t>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531529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866D5-69AF-59C7-0B9F-6BCF24BDD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87753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F8924-759A-1A93-9860-293989E34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465007"/>
            <a:ext cx="6965285" cy="4326194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</a:rPr>
              <a:t>In an era of escalating financial risks and regulatory scrutiny, the Big 4 firms Deloitte, PwC, EY, KPMG  are turning to Artificial Intelligence (AI) to transform audit compliance, fraud detection, and risk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</a:rPr>
              <a:t>This project leverages real-world data to uncover how AI adoption impacts audit effectiveness, employee satisfaction, and financial outcomes.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</a:rPr>
              <a:t> This study utilizes data from the” </a:t>
            </a:r>
            <a:r>
              <a:rPr lang="en-US" sz="1400" i="1" dirty="0">
                <a:solidFill>
                  <a:schemeClr val="tx1"/>
                </a:solidFill>
                <a:effectLst/>
              </a:rPr>
              <a:t>Big 4 Financial Risk &amp; Compliance</a:t>
            </a:r>
            <a:r>
              <a:rPr lang="en-US" sz="1400" i="0" dirty="0">
                <a:solidFill>
                  <a:schemeClr val="tx1"/>
                </a:solidFill>
                <a:effectLst/>
              </a:rPr>
              <a:t> dataset”, integrating AI-driven audit analytics, risk assessment, and compliance tracking into an interactive Power BI dashboard. By analyzing patterns such as high-risk case frequency, fraud detection rates, revenue impact, and AI adoption trends, this project aims to provide actionable insights that enhance proactive risk management and regulatory compliance.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Through visualizations Clustered column chart ,stacked area chart , pie chart the dashboard empower decision-makers to monitor well-being in real time and make data-informed interventions </a:t>
            </a:r>
            <a:r>
              <a:rPr lang="en-US" sz="1400" dirty="0"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chemeClr val="tx1"/>
                </a:solidFill>
                <a:cs typeface="Times New Roman" panose="02020603050405020304" pitchFamily="18" charset="0"/>
              </a:rPr>
              <a:t>which help</a:t>
            </a:r>
            <a:r>
              <a:rPr lang="en-US" sz="1400" i="0" dirty="0">
                <a:solidFill>
                  <a:schemeClr val="tx1"/>
                </a:solidFill>
                <a:effectLst/>
              </a:rPr>
              <a:t> audit partners, compliance officers, and corporate decision-makers to monitor risk exposure in real time and make data-driven interventions</a:t>
            </a:r>
            <a:endParaRPr lang="en-IN" sz="18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566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9D24-FF06-ECEF-5C94-EDB83DF15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789039"/>
          </a:xfrm>
        </p:spPr>
        <p:txBody>
          <a:bodyPr>
            <a:normAutofit fontScale="90000"/>
          </a:bodyPr>
          <a:lstStyle/>
          <a:p>
            <a:r>
              <a:rPr lang="en-IN" dirty="0"/>
              <a:t>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B3382-C86E-7595-48A8-F3B09ADE3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474839"/>
            <a:ext cx="6400800" cy="4316361"/>
          </a:xfrm>
        </p:spPr>
        <p:txBody>
          <a:bodyPr>
            <a:normAutofit fontScale="25000" lnSpcReduction="20000"/>
          </a:bodyPr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5600" b="1" i="0" dirty="0">
                <a:solidFill>
                  <a:schemeClr val="tx1"/>
                </a:solidFill>
                <a:effectLst/>
              </a:rPr>
              <a:t>Track and analyze:</a:t>
            </a:r>
            <a:r>
              <a:rPr lang="en-US" sz="5600" b="0" i="0" dirty="0">
                <a:solidFill>
                  <a:schemeClr val="tx1"/>
                </a:solidFill>
                <a:effectLst/>
              </a:rPr>
              <a:t> financial risk and compliance metrics across Big 4 firms (Deloitte, PwC, EY, KPMG)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5600" b="1" i="0" dirty="0">
                <a:solidFill>
                  <a:schemeClr val="tx1"/>
                </a:solidFill>
                <a:effectLst/>
              </a:rPr>
              <a:t>Monitor trends:</a:t>
            </a:r>
            <a:r>
              <a:rPr lang="en-US" sz="5600" b="0" i="0" dirty="0">
                <a:solidFill>
                  <a:schemeClr val="tx1"/>
                </a:solidFill>
                <a:effectLst/>
              </a:rPr>
              <a:t> in high-risk cases, fraud incidents, and compliance violations (2020-2025)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5600" b="1" i="0" dirty="0">
                <a:solidFill>
                  <a:schemeClr val="tx1"/>
                </a:solidFill>
                <a:effectLst/>
              </a:rPr>
              <a:t>Evaluate effectiveness:</a:t>
            </a:r>
            <a:r>
              <a:rPr lang="en-US" sz="5600" b="0" i="0" dirty="0">
                <a:solidFill>
                  <a:schemeClr val="tx1"/>
                </a:solidFill>
                <a:effectLst/>
              </a:rPr>
              <a:t> of AI adoption in auditing processes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5600" b="1" i="0" dirty="0">
                <a:solidFill>
                  <a:schemeClr val="tx1"/>
                </a:solidFill>
                <a:effectLst/>
              </a:rPr>
              <a:t>Compare performance</a:t>
            </a:r>
            <a:r>
              <a:rPr lang="en-US" sz="5600" b="0" i="0" dirty="0">
                <a:solidFill>
                  <a:schemeClr val="tx1"/>
                </a:solidFill>
                <a:effectLst/>
              </a:rPr>
              <a:t> :between firms and industries Healthcare, Finance, Tech, Retail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5600" b="1" i="0" dirty="0">
                <a:solidFill>
                  <a:schemeClr val="tx1"/>
                </a:solidFill>
                <a:effectLst/>
              </a:rPr>
              <a:t>Identify risk patterns</a:t>
            </a:r>
            <a:r>
              <a:rPr lang="en-US" sz="5600" b="0" i="0" dirty="0">
                <a:solidFill>
                  <a:schemeClr val="tx1"/>
                </a:solidFill>
                <a:effectLst/>
              </a:rPr>
              <a:t> :to improve audit strategies and resource allocation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5600" b="1" i="0" dirty="0">
                <a:solidFill>
                  <a:schemeClr val="tx1"/>
                </a:solidFill>
                <a:effectLst/>
              </a:rPr>
              <a:t>Support data-driven decisions:</a:t>
            </a:r>
            <a:r>
              <a:rPr lang="en-US" sz="5600" b="0" i="0" dirty="0">
                <a:solidFill>
                  <a:schemeClr val="tx1"/>
                </a:solidFill>
                <a:effectLst/>
              </a:rPr>
              <a:t> for compliance and fraud prevention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5600" b="1" i="0" dirty="0">
                <a:solidFill>
                  <a:schemeClr val="tx1"/>
                </a:solidFill>
                <a:effectLst/>
              </a:rPr>
              <a:t>Benchmark revenue impact:</a:t>
            </a:r>
            <a:r>
              <a:rPr lang="en-US" sz="5600" b="0" i="0" dirty="0">
                <a:solidFill>
                  <a:schemeClr val="tx1"/>
                </a:solidFill>
                <a:effectLst/>
              </a:rPr>
              <a:t> of audit engagements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5600" b="1" i="0" dirty="0">
                <a:solidFill>
                  <a:schemeClr val="tx1"/>
                </a:solidFill>
                <a:effectLst/>
              </a:rPr>
              <a:t>Provide actionable insights:</a:t>
            </a:r>
            <a:r>
              <a:rPr lang="en-US" sz="5600" b="0" i="0" dirty="0">
                <a:solidFill>
                  <a:schemeClr val="tx1"/>
                </a:solidFill>
                <a:effectLst/>
              </a:rPr>
              <a:t> through interactive visualizations</a:t>
            </a:r>
          </a:p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n-US" sz="2200" b="1" i="0" dirty="0">
                <a:solidFill>
                  <a:schemeClr val="tx1"/>
                </a:solidFill>
                <a:effectLst/>
              </a:rPr>
              <a:t>Key Features</a:t>
            </a:r>
            <a:endParaRPr lang="en-US" sz="2200" b="0" i="0" dirty="0">
              <a:solidFill>
                <a:schemeClr val="tx1"/>
              </a:solidFill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703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AE61B-515F-0AAC-F890-4A2C70519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963561"/>
            <a:ext cx="8001000" cy="1543665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effectLst/>
                <a:latin typeface="quote-cjk-patch"/>
              </a:rPr>
              <a:t>Who Can Use This Dashboard</a:t>
            </a:r>
            <a:br>
              <a:rPr lang="en-US" b="0" i="0" dirty="0">
                <a:effectLst/>
                <a:latin typeface="quote-cjk-patch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1D84F-A5D6-C05C-C3E1-3044C5C61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887794"/>
            <a:ext cx="6400800" cy="4886631"/>
          </a:xfrm>
        </p:spPr>
        <p:txBody>
          <a:bodyPr/>
          <a:lstStyle/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tx1"/>
                </a:solidFill>
                <a:effectLst/>
              </a:rPr>
              <a:t>Big 4 leadership</a:t>
            </a:r>
            <a:r>
              <a:rPr lang="en-US" sz="1400" b="0" i="0" dirty="0">
                <a:solidFill>
                  <a:schemeClr val="tx1"/>
                </a:solidFill>
                <a:effectLst/>
              </a:rPr>
              <a:t> :strategic planning, performance tracking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tx1"/>
                </a:solidFill>
                <a:effectLst/>
              </a:rPr>
              <a:t>Audit &amp; compliance teams</a:t>
            </a:r>
            <a:r>
              <a:rPr lang="en-US" sz="1400" b="0" i="0" dirty="0">
                <a:solidFill>
                  <a:schemeClr val="tx1"/>
                </a:solidFill>
                <a:effectLst/>
              </a:rPr>
              <a:t> :risk assessment, process improvement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tx1"/>
                </a:solidFill>
                <a:effectLst/>
              </a:rPr>
              <a:t>Regulatory bodies</a:t>
            </a:r>
            <a:r>
              <a:rPr lang="en-US" sz="1400" b="0" i="0" dirty="0">
                <a:solidFill>
                  <a:schemeClr val="tx1"/>
                </a:solidFill>
                <a:effectLst/>
              </a:rPr>
              <a:t> :oversight, policy adjustments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tx1"/>
                </a:solidFill>
                <a:effectLst/>
              </a:rPr>
              <a:t>Corporate clients</a:t>
            </a:r>
            <a:r>
              <a:rPr lang="en-US" sz="1400" b="0" i="0" dirty="0">
                <a:solidFill>
                  <a:schemeClr val="tx1"/>
                </a:solidFill>
                <a:effectLst/>
              </a:rPr>
              <a:t> :vendor selection, risk evaluation</a:t>
            </a:r>
          </a:p>
          <a:p>
            <a:pPr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chemeClr val="tx1"/>
                </a:solidFill>
                <a:effectLst/>
              </a:rPr>
              <a:t>Data analysts &amp; researchers</a:t>
            </a:r>
            <a:r>
              <a:rPr lang="en-US" sz="1400" dirty="0">
                <a:solidFill>
                  <a:schemeClr val="tx1"/>
                </a:solidFill>
              </a:rPr>
              <a:t>: </a:t>
            </a:r>
            <a:r>
              <a:rPr lang="en-US" sz="1400" b="0" i="0" dirty="0">
                <a:solidFill>
                  <a:schemeClr val="tx1"/>
                </a:solidFill>
                <a:effectLst/>
              </a:rPr>
              <a:t>trend analysis, predictive modeling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992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8C5B-000C-846A-B196-5AE6709D9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34400" cy="1507067"/>
          </a:xfrm>
        </p:spPr>
        <p:txBody>
          <a:bodyPr/>
          <a:lstStyle/>
          <a:p>
            <a:r>
              <a:rPr lang="en-IN" dirty="0"/>
              <a:t>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8478A2-55FF-4890-5987-44A73631F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091381"/>
            <a:ext cx="10188294" cy="567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7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99EE4-CBAE-3CDA-C162-3DCEC5502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-68825"/>
            <a:ext cx="8534400" cy="1061884"/>
          </a:xfrm>
        </p:spPr>
        <p:txBody>
          <a:bodyPr/>
          <a:lstStyle/>
          <a:p>
            <a:r>
              <a:rPr lang="en-IN" dirty="0"/>
              <a:t>Key details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9BD054-0DC4-3A2A-4F8D-EFD731C8F0C5}"/>
              </a:ext>
            </a:extLst>
          </p:cNvPr>
          <p:cNvSpPr txBox="1"/>
          <p:nvPr/>
        </p:nvSpPr>
        <p:spPr>
          <a:xfrm>
            <a:off x="206477" y="973395"/>
            <a:ext cx="6879763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 Year–The year the audit data was recorded 2020 to 2025.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Firm Name– The Big 4 firm PwC, Deloitte, Ernst &amp; Young, KPMG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Total Audit Engagements – Total number of audits conducted.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High Risk Cases– Number of high-risk audit cases.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Compliance Violations – Count of compliance violations found.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Fraud Cases Detected – Number of fraud cases uncovered.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Industry Affected – Industry sector Healthcare, Finance, Retail, Tech.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Total Revenue Impact – Financial impact of audits (in $ millions).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AI Used for Auditing – Whether AI was used (Yes/No).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/>
              <a:t>Employee</a:t>
            </a:r>
            <a:r>
              <a:rPr lang="en-IN" sz="1400" dirty="0"/>
              <a:t> Workload – Measure of employee workload (likely a score or hours).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Audit Effectiveness Score – Rating of audit quality ( 1-10).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/>
              <a:t>-Client Satisfaction Score – Client feedback score (1-10).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46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39C1-1986-D8C7-79B2-898469692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759543"/>
          </a:xfrm>
        </p:spPr>
        <p:txBody>
          <a:bodyPr>
            <a:normAutofit fontScale="90000"/>
          </a:bodyPr>
          <a:lstStyle/>
          <a:p>
            <a:r>
              <a:rPr lang="en-IN" dirty="0"/>
              <a:t>Criteria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A7F07-AAA7-AC38-46BF-D86841BFA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605548"/>
            <a:ext cx="12191999" cy="414921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	</a:t>
            </a:r>
            <a:r>
              <a:rPr lang="en-IN" sz="1400" b="1" dirty="0">
                <a:solidFill>
                  <a:schemeClr val="tx1"/>
                </a:solidFill>
              </a:rPr>
              <a:t>Average workload of employees  	</a:t>
            </a:r>
            <a:r>
              <a:rPr lang="en-IN" sz="1400" dirty="0">
                <a:solidFill>
                  <a:schemeClr val="tx1"/>
                </a:solidFill>
              </a:rPr>
              <a:t>-									- Clustered column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b="1" dirty="0">
                <a:solidFill>
                  <a:schemeClr val="tx1"/>
                </a:solidFill>
              </a:rPr>
              <a:t>Sum of High Risk Cases, Sum of Compliance Violations and Sum of Fraud Cases by firm</a:t>
            </a:r>
            <a:r>
              <a:rPr lang="en-US" sz="1400" dirty="0">
                <a:solidFill>
                  <a:schemeClr val="tx1"/>
                </a:solidFill>
              </a:rPr>
              <a:t>	-</a:t>
            </a:r>
            <a:r>
              <a:rPr lang="en-IN" sz="1400" dirty="0">
                <a:solidFill>
                  <a:schemeClr val="tx1"/>
                </a:solidFill>
              </a:rPr>
              <a:t> Clustered column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	</a:t>
            </a:r>
            <a:r>
              <a:rPr lang="en-IN" sz="1400" b="1" dirty="0">
                <a:solidFill>
                  <a:schemeClr val="tx1"/>
                </a:solidFill>
              </a:rPr>
              <a:t>Revenue Impact</a:t>
            </a:r>
            <a:r>
              <a:rPr lang="en-IN" sz="1400" dirty="0">
                <a:solidFill>
                  <a:schemeClr val="tx1"/>
                </a:solidFill>
              </a:rPr>
              <a:t>													 -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b="1" dirty="0">
                <a:solidFill>
                  <a:schemeClr val="tx1"/>
                </a:solidFill>
              </a:rPr>
              <a:t>Sum of High Risk Cases, Sum of Compliance Violations and Sum of Fraud Cases by Year</a:t>
            </a:r>
            <a:r>
              <a:rPr lang="en-IN" sz="1400" b="1" dirty="0">
                <a:solidFill>
                  <a:schemeClr val="tx1"/>
                </a:solidFill>
              </a:rPr>
              <a:t> </a:t>
            </a:r>
            <a:r>
              <a:rPr lang="en-IN" sz="1400" dirty="0">
                <a:solidFill>
                  <a:schemeClr val="tx1"/>
                </a:solidFill>
              </a:rPr>
              <a:t>	–Scattered 	Area Chart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	</a:t>
            </a:r>
            <a:r>
              <a:rPr lang="en-IN" sz="1400" b="1" dirty="0">
                <a:solidFill>
                  <a:schemeClr val="tx1"/>
                </a:solidFill>
              </a:rPr>
              <a:t>Industry  having fraud case       </a:t>
            </a:r>
            <a:r>
              <a:rPr lang="en-IN" sz="1400" dirty="0">
                <a:solidFill>
                  <a:schemeClr val="tx1"/>
                </a:solidFill>
              </a:rPr>
              <a:t>										 - Pie chart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	</a:t>
            </a:r>
            <a:r>
              <a:rPr lang="en-IN" sz="1400" b="1" dirty="0">
                <a:solidFill>
                  <a:schemeClr val="tx1"/>
                </a:solidFill>
              </a:rPr>
              <a:t>Audit Engagement	</a:t>
            </a:r>
            <a:r>
              <a:rPr lang="en-IN" sz="1400" dirty="0">
                <a:solidFill>
                  <a:schemeClr val="tx1"/>
                </a:solidFill>
              </a:rPr>
              <a:t>		       										  -Card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4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5AF6-D4E4-5210-31AE-0B7A82EE3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2" y="393290"/>
            <a:ext cx="580103" cy="5601109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IN" dirty="0"/>
              <a:t>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69913-06BE-F377-76E3-5F9BEF285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40" y="412954"/>
            <a:ext cx="10150720" cy="582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0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">
              <a:srgbClr val="5275AD"/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6D96-ACAA-42D0-E699-B8FFE1F52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818536"/>
          </a:xfrm>
        </p:spPr>
        <p:txBody>
          <a:bodyPr>
            <a:normAutofit fontScale="90000"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DB1CF-7952-9318-92A7-8EFA644AD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1" y="1406013"/>
            <a:ext cx="10544227" cy="4945626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S</a:t>
            </a:r>
            <a:r>
              <a:rPr lang="en-US" sz="1400" i="0" dirty="0">
                <a:solidFill>
                  <a:schemeClr val="tx1"/>
                </a:solidFill>
                <a:effectLst/>
              </a:rPr>
              <a:t>tudy highlights how data visualization and interactive dashboards can turn complex audit and compliance data into actionable intelligence for the Big 4 firms. By leveraging Power BI, stakeholders can:</a:t>
            </a:r>
          </a:p>
          <a:p>
            <a:pPr marL="285750" indent="-285750"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</a:rPr>
              <a:t>With monitoring risk exposure in real-time through trends in high-risk cases, fraud detection, and compliance violations found that increase of high risk case and fraud cases while using AI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</a:rPr>
              <a:t>By Comparing performance across firms, industries, and years found that each firm have industry dominance in one industry.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</a:rPr>
              <a:t>By evaluating AI’s impact on audit effectiveness, efficiency, and client satisfaction introducing of ai brings a positive change.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E</a:t>
            </a:r>
            <a:r>
              <a:rPr lang="en-US" sz="1400" i="0" dirty="0">
                <a:solidFill>
                  <a:schemeClr val="tx1"/>
                </a:solidFill>
                <a:effectLst/>
              </a:rPr>
              <a:t>mployee workload has decreased of majority of firms while using AI.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US" sz="1400" i="0" dirty="0">
                <a:solidFill>
                  <a:schemeClr val="tx1"/>
                </a:solidFill>
                <a:effectLst/>
              </a:rPr>
              <a:t> Audit outcomes outcome has increased in fraud detection and</a:t>
            </a:r>
            <a:r>
              <a:rPr lang="en-US" sz="1400" dirty="0">
                <a:solidFill>
                  <a:schemeClr val="tx1"/>
                </a:solidFill>
              </a:rPr>
              <a:t> high risk </a:t>
            </a:r>
            <a:r>
              <a:rPr lang="en-US" sz="1400">
                <a:solidFill>
                  <a:schemeClr val="tx1"/>
                </a:solidFill>
              </a:rPr>
              <a:t>case also </a:t>
            </a:r>
            <a:r>
              <a:rPr lang="en-US" sz="1400" dirty="0">
                <a:solidFill>
                  <a:schemeClr val="tx1"/>
                </a:solidFill>
              </a:rPr>
              <a:t>decrease in compliance while using AI</a:t>
            </a:r>
            <a:r>
              <a:rPr lang="en-US" sz="1400" i="0" dirty="0">
                <a:solidFill>
                  <a:schemeClr val="tx1"/>
                </a:solidFill>
                <a:effectLst/>
              </a:rPr>
              <a:t> .</a:t>
            </a:r>
            <a:endParaRPr lang="en-IN" sz="1400" i="0" dirty="0">
              <a:solidFill>
                <a:schemeClr val="tx1"/>
              </a:solidFill>
              <a:effectLst/>
            </a:endParaRP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IN" sz="1400" i="0" dirty="0">
                <a:solidFill>
                  <a:schemeClr val="tx1"/>
                </a:solidFill>
                <a:effectLst/>
              </a:rPr>
              <a:t>Clients  are more satisfied after the AI in Consulting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IN" sz="1400" i="0" dirty="0">
                <a:solidFill>
                  <a:schemeClr val="tx1"/>
                </a:solidFill>
                <a:effectLst/>
              </a:rPr>
              <a:t>Efficiency of firm and employee increased after the ai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Influence of Human is needed to find Compliance violation</a:t>
            </a:r>
            <a:endParaRPr lang="en-IN" sz="1400" i="0" dirty="0">
              <a:solidFill>
                <a:schemeClr val="tx1"/>
              </a:solidFill>
              <a:effectLst/>
            </a:endParaRP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endParaRPr lang="en-US" sz="140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86588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B576-BF06-3C35-AEC4-794000831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779207"/>
          </a:xfrm>
        </p:spPr>
        <p:txBody>
          <a:bodyPr>
            <a:normAutofit fontScale="90000"/>
          </a:bodyPr>
          <a:lstStyle/>
          <a:p>
            <a:r>
              <a:rPr lang="en-IN" dirty="0"/>
              <a:t>suggestions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7AE6E-6BEB-53D6-00C8-BFCE7B4A0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4" y="1700980"/>
            <a:ext cx="10721207" cy="45720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Implementing  AI will increase the efficiency of firm and employees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Try to increase investment in HR and AI in PwC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Implementing  AI will increase client satisfaction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Implementing AI will decrease finding compliance violation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Consult firms which have large market share because the tend to find more efficiency than other form on that particular industry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846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4C58A-752F-E31F-DF0E-865D71C2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819" y="157316"/>
            <a:ext cx="4518792" cy="5837083"/>
          </a:xfrm>
        </p:spPr>
        <p:txBody>
          <a:bodyPr>
            <a:normAutofit/>
          </a:bodyPr>
          <a:lstStyle/>
          <a:p>
            <a:r>
              <a:rPr lang="en-IN" sz="6000" dirty="0"/>
              <a:t>THANK </a:t>
            </a:r>
            <a:br>
              <a:rPr lang="en-IN" sz="6000" dirty="0"/>
            </a:br>
            <a:r>
              <a:rPr lang="en-IN" sz="6000" dirty="0"/>
              <a:t>  YOU</a:t>
            </a:r>
          </a:p>
        </p:txBody>
      </p:sp>
    </p:spTree>
    <p:extLst>
      <p:ext uri="{BB962C8B-B14F-4D97-AF65-F5344CB8AC3E}">
        <p14:creationId xmlns:p14="http://schemas.microsoft.com/office/powerpoint/2010/main" val="305777404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1042</TotalTime>
  <Words>860</Words>
  <Application>Microsoft Office PowerPoint</Application>
  <PresentationFormat>Widescreen</PresentationFormat>
  <Paragraphs>77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Rounded MT Bold</vt:lpstr>
      <vt:lpstr>Calibri</vt:lpstr>
      <vt:lpstr>Franklin Gothic Book</vt:lpstr>
      <vt:lpstr>Franklin Gothic Medium</vt:lpstr>
      <vt:lpstr>quote-cjk-patch</vt:lpstr>
      <vt:lpstr>Times New Roman</vt:lpstr>
      <vt:lpstr>Wingdings</vt:lpstr>
      <vt:lpstr>Wingdings 3</vt:lpstr>
      <vt:lpstr>Slice</vt:lpstr>
      <vt:lpstr>   Ai in big 4’s  </vt:lpstr>
      <vt:lpstr>introduction</vt:lpstr>
      <vt:lpstr>objective</vt:lpstr>
      <vt:lpstr>Who Can Use This Dashboard </vt:lpstr>
      <vt:lpstr>dataset</vt:lpstr>
      <vt:lpstr>Key details</vt:lpstr>
      <vt:lpstr>Criteria used</vt:lpstr>
      <vt:lpstr>dashboard</vt:lpstr>
      <vt:lpstr>conclusion</vt:lpstr>
      <vt:lpstr>suggestions</vt:lpstr>
      <vt:lpstr>THANK  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jestin john</dc:creator>
  <cp:lastModifiedBy>jestin john</cp:lastModifiedBy>
  <cp:revision>2</cp:revision>
  <dcterms:created xsi:type="dcterms:W3CDTF">2025-05-28T05:34:04Z</dcterms:created>
  <dcterms:modified xsi:type="dcterms:W3CDTF">2026-01-04T14:48:50Z</dcterms:modified>
</cp:coreProperties>
</file>